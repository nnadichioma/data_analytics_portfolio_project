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72" r:id="rId4"/>
    <p:sldId id="260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62" r:id="rId13"/>
    <p:sldId id="263" r:id="rId14"/>
    <p:sldId id="264" r:id="rId15"/>
    <p:sldId id="25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D47C6-B027-4B7E-82AE-7E586F055F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187BD9-F79A-4332-BF52-FEE9CA806F5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“Why”: Project Context and Business Goals</a:t>
          </a:r>
        </a:p>
      </dgm:t>
    </dgm:pt>
    <dgm:pt modelId="{CC18FAEE-1A1B-4457-BFA7-779484461FE9}" type="parTrans" cxnId="{763AF3DA-F012-4297-AF1C-F8861AF29CAC}">
      <dgm:prSet/>
      <dgm:spPr/>
      <dgm:t>
        <a:bodyPr/>
        <a:lstStyle/>
        <a:p>
          <a:endParaRPr lang="en-US"/>
        </a:p>
      </dgm:t>
    </dgm:pt>
    <dgm:pt modelId="{67851D2D-33CD-4C6F-873D-DB6D861B8DF1}" type="sibTrans" cxnId="{763AF3DA-F012-4297-AF1C-F8861AF29CAC}">
      <dgm:prSet/>
      <dgm:spPr/>
      <dgm:t>
        <a:bodyPr/>
        <a:lstStyle/>
        <a:p>
          <a:endParaRPr lang="en-US"/>
        </a:p>
      </dgm:t>
    </dgm:pt>
    <dgm:pt modelId="{9B0C2F48-B885-4E21-8D7C-AAB3146F46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“How”: My Approach &amp; Data Sources</a:t>
          </a:r>
        </a:p>
      </dgm:t>
    </dgm:pt>
    <dgm:pt modelId="{6B4F1375-EE73-469C-ADC7-0AA1AD0C7EFD}" type="parTrans" cxnId="{64C847F7-D790-41C5-A99E-C1820E5D4B18}">
      <dgm:prSet/>
      <dgm:spPr/>
      <dgm:t>
        <a:bodyPr/>
        <a:lstStyle/>
        <a:p>
          <a:endParaRPr lang="en-US"/>
        </a:p>
      </dgm:t>
    </dgm:pt>
    <dgm:pt modelId="{F70BBD62-4141-4865-94B8-1061FA4395A9}" type="sibTrans" cxnId="{64C847F7-D790-41C5-A99E-C1820E5D4B18}">
      <dgm:prSet/>
      <dgm:spPr/>
      <dgm:t>
        <a:bodyPr/>
        <a:lstStyle/>
        <a:p>
          <a:endParaRPr lang="en-US"/>
        </a:p>
      </dgm:t>
    </dgm:pt>
    <dgm:pt modelId="{6770F7AC-31EB-458D-A3A4-65A6E9AAA2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</a:t>
          </a:r>
          <a:r>
            <a:rPr lang="en-US"/>
            <a:t>What”: Keys Findings and Insights</a:t>
          </a:r>
        </a:p>
      </dgm:t>
    </dgm:pt>
    <dgm:pt modelId="{215856BE-A8FC-4BE6-8AC6-C9E95D7E657C}" type="parTrans" cxnId="{FC8D2470-5EB5-4A2A-B0CF-03ECDA4863BC}">
      <dgm:prSet/>
      <dgm:spPr/>
      <dgm:t>
        <a:bodyPr/>
        <a:lstStyle/>
        <a:p>
          <a:endParaRPr lang="en-US"/>
        </a:p>
      </dgm:t>
    </dgm:pt>
    <dgm:pt modelId="{D29A3C0D-A90F-4E93-89F1-D610C8D552C7}" type="sibTrans" cxnId="{FC8D2470-5EB5-4A2A-B0CF-03ECDA4863BC}">
      <dgm:prSet/>
      <dgm:spPr/>
      <dgm:t>
        <a:bodyPr/>
        <a:lstStyle/>
        <a:p>
          <a:endParaRPr lang="en-US"/>
        </a:p>
      </dgm:t>
    </dgm:pt>
    <dgm:pt modelId="{7087A486-21FC-4EEB-B6F7-4B98B72E79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</a:t>
          </a:r>
          <a:r>
            <a:rPr lang="en-US"/>
            <a:t>Tool”: Dashboard Walkthrough</a:t>
          </a:r>
        </a:p>
      </dgm:t>
    </dgm:pt>
    <dgm:pt modelId="{4D18B827-7273-4F43-BAF4-FDF5927F9C72}" type="parTrans" cxnId="{E90B2014-2C7C-4198-A11A-850168A22F92}">
      <dgm:prSet/>
      <dgm:spPr/>
      <dgm:t>
        <a:bodyPr/>
        <a:lstStyle/>
        <a:p>
          <a:endParaRPr lang="en-US"/>
        </a:p>
      </dgm:t>
    </dgm:pt>
    <dgm:pt modelId="{8F9EB4D5-1900-4837-8DB7-D601775640DD}" type="sibTrans" cxnId="{E90B2014-2C7C-4198-A11A-850168A22F92}">
      <dgm:prSet/>
      <dgm:spPr/>
      <dgm:t>
        <a:bodyPr/>
        <a:lstStyle/>
        <a:p>
          <a:endParaRPr lang="en-US"/>
        </a:p>
      </dgm:t>
    </dgm:pt>
    <dgm:pt modelId="{A6E0CC75-E6FD-4865-A52C-094A76F8294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“Next”: Recommendations, Predictions, &amp; Conclusion</a:t>
          </a:r>
          <a:endParaRPr lang="en-US"/>
        </a:p>
      </dgm:t>
    </dgm:pt>
    <dgm:pt modelId="{B455A007-78FD-490F-942D-B826A2B7E0E2}" type="parTrans" cxnId="{32677B6C-7F28-484C-87A3-DE9A01048FC5}">
      <dgm:prSet/>
      <dgm:spPr/>
      <dgm:t>
        <a:bodyPr/>
        <a:lstStyle/>
        <a:p>
          <a:endParaRPr lang="en-US"/>
        </a:p>
      </dgm:t>
    </dgm:pt>
    <dgm:pt modelId="{FA72421E-E6BE-4779-A269-2B2038732F19}" type="sibTrans" cxnId="{32677B6C-7F28-484C-87A3-DE9A01048FC5}">
      <dgm:prSet/>
      <dgm:spPr/>
      <dgm:t>
        <a:bodyPr/>
        <a:lstStyle/>
        <a:p>
          <a:endParaRPr lang="en-US"/>
        </a:p>
      </dgm:t>
    </dgm:pt>
    <dgm:pt modelId="{B012780C-834F-480F-956D-F4AE908E27B4}" type="pres">
      <dgm:prSet presAssocID="{8B1D47C6-B027-4B7E-82AE-7E586F055FB1}" presName="root" presStyleCnt="0">
        <dgm:presLayoutVars>
          <dgm:dir/>
          <dgm:resizeHandles val="exact"/>
        </dgm:presLayoutVars>
      </dgm:prSet>
      <dgm:spPr/>
    </dgm:pt>
    <dgm:pt modelId="{59F20DAB-D8D2-49D2-8393-E012C9FA75D6}" type="pres">
      <dgm:prSet presAssocID="{15187BD9-F79A-4332-BF52-FEE9CA806F53}" presName="compNode" presStyleCnt="0"/>
      <dgm:spPr/>
    </dgm:pt>
    <dgm:pt modelId="{60D87527-D32B-4038-A782-1EEBC5CA8658}" type="pres">
      <dgm:prSet presAssocID="{15187BD9-F79A-4332-BF52-FEE9CA806F5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1AEBA4E-24EB-43E5-B1EA-4D7274B8C4BB}" type="pres">
      <dgm:prSet presAssocID="{15187BD9-F79A-4332-BF52-FEE9CA806F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CD8E508-538B-467F-9BBB-499A80AC2371}" type="pres">
      <dgm:prSet presAssocID="{15187BD9-F79A-4332-BF52-FEE9CA806F53}" presName="spaceRect" presStyleCnt="0"/>
      <dgm:spPr/>
    </dgm:pt>
    <dgm:pt modelId="{41B3D4F5-47AA-4ED4-B52A-8E878C83E900}" type="pres">
      <dgm:prSet presAssocID="{15187BD9-F79A-4332-BF52-FEE9CA806F53}" presName="textRect" presStyleLbl="revTx" presStyleIdx="0" presStyleCnt="5">
        <dgm:presLayoutVars>
          <dgm:chMax val="1"/>
          <dgm:chPref val="1"/>
        </dgm:presLayoutVars>
      </dgm:prSet>
      <dgm:spPr/>
    </dgm:pt>
    <dgm:pt modelId="{1748705A-9A4E-4E41-9C06-C08D4D254235}" type="pres">
      <dgm:prSet presAssocID="{67851D2D-33CD-4C6F-873D-DB6D861B8DF1}" presName="sibTrans" presStyleCnt="0"/>
      <dgm:spPr/>
    </dgm:pt>
    <dgm:pt modelId="{48DAD7DE-D652-4509-8516-B3808F1F4346}" type="pres">
      <dgm:prSet presAssocID="{9B0C2F48-B885-4E21-8D7C-AAB3146F469E}" presName="compNode" presStyleCnt="0"/>
      <dgm:spPr/>
    </dgm:pt>
    <dgm:pt modelId="{97B54AD8-0F50-4280-A884-7721C36BF206}" type="pres">
      <dgm:prSet presAssocID="{9B0C2F48-B885-4E21-8D7C-AAB3146F469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72EDF94-83D7-4C18-B785-AF006DE6B3D4}" type="pres">
      <dgm:prSet presAssocID="{9B0C2F48-B885-4E21-8D7C-AAB3146F469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C5F18B40-530A-4352-802F-F280FE6D41AF}" type="pres">
      <dgm:prSet presAssocID="{9B0C2F48-B885-4E21-8D7C-AAB3146F469E}" presName="spaceRect" presStyleCnt="0"/>
      <dgm:spPr/>
    </dgm:pt>
    <dgm:pt modelId="{49C08D87-2A1B-4851-A23A-34E630C5DE91}" type="pres">
      <dgm:prSet presAssocID="{9B0C2F48-B885-4E21-8D7C-AAB3146F469E}" presName="textRect" presStyleLbl="revTx" presStyleIdx="1" presStyleCnt="5">
        <dgm:presLayoutVars>
          <dgm:chMax val="1"/>
          <dgm:chPref val="1"/>
        </dgm:presLayoutVars>
      </dgm:prSet>
      <dgm:spPr/>
    </dgm:pt>
    <dgm:pt modelId="{8718F55C-9F65-4B79-BB43-A2FB5DBCC7AD}" type="pres">
      <dgm:prSet presAssocID="{F70BBD62-4141-4865-94B8-1061FA4395A9}" presName="sibTrans" presStyleCnt="0"/>
      <dgm:spPr/>
    </dgm:pt>
    <dgm:pt modelId="{F6B1E46C-966B-4EB9-91A8-10A8C2DCF9C8}" type="pres">
      <dgm:prSet presAssocID="{6770F7AC-31EB-458D-A3A4-65A6E9AAA286}" presName="compNode" presStyleCnt="0"/>
      <dgm:spPr/>
    </dgm:pt>
    <dgm:pt modelId="{6808D771-90D1-4125-9E58-C4A92BBF1590}" type="pres">
      <dgm:prSet presAssocID="{6770F7AC-31EB-458D-A3A4-65A6E9AAA28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429B3DB-623F-43B5-909E-A1AA931C99F2}" type="pres">
      <dgm:prSet presAssocID="{6770F7AC-31EB-458D-A3A4-65A6E9AAA2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30A677-2735-4F7F-A1C4-9E5243350D85}" type="pres">
      <dgm:prSet presAssocID="{6770F7AC-31EB-458D-A3A4-65A6E9AAA286}" presName="spaceRect" presStyleCnt="0"/>
      <dgm:spPr/>
    </dgm:pt>
    <dgm:pt modelId="{C102DCC7-6B42-48BA-A2A2-2EED43AB2E7F}" type="pres">
      <dgm:prSet presAssocID="{6770F7AC-31EB-458D-A3A4-65A6E9AAA286}" presName="textRect" presStyleLbl="revTx" presStyleIdx="2" presStyleCnt="5">
        <dgm:presLayoutVars>
          <dgm:chMax val="1"/>
          <dgm:chPref val="1"/>
        </dgm:presLayoutVars>
      </dgm:prSet>
      <dgm:spPr/>
    </dgm:pt>
    <dgm:pt modelId="{21552CE2-3A7B-48F2-8220-53DADD27E4E7}" type="pres">
      <dgm:prSet presAssocID="{D29A3C0D-A90F-4E93-89F1-D610C8D552C7}" presName="sibTrans" presStyleCnt="0"/>
      <dgm:spPr/>
    </dgm:pt>
    <dgm:pt modelId="{F7BA2AD4-8812-4C96-B24B-9E3A6A3D48D2}" type="pres">
      <dgm:prSet presAssocID="{7087A486-21FC-4EEB-B6F7-4B98B72E796B}" presName="compNode" presStyleCnt="0"/>
      <dgm:spPr/>
    </dgm:pt>
    <dgm:pt modelId="{679ADAEF-CC8B-438D-878D-FA3A45575389}" type="pres">
      <dgm:prSet presAssocID="{7087A486-21FC-4EEB-B6F7-4B98B72E796B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2B73792-8481-46F8-A514-5587BCB89A6A}" type="pres">
      <dgm:prSet presAssocID="{7087A486-21FC-4EEB-B6F7-4B98B72E79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791FBE4-DD61-434B-B848-6049913CD498}" type="pres">
      <dgm:prSet presAssocID="{7087A486-21FC-4EEB-B6F7-4B98B72E796B}" presName="spaceRect" presStyleCnt="0"/>
      <dgm:spPr/>
    </dgm:pt>
    <dgm:pt modelId="{1BF6317E-93CD-4E83-AFEB-D855BFF8234D}" type="pres">
      <dgm:prSet presAssocID="{7087A486-21FC-4EEB-B6F7-4B98B72E796B}" presName="textRect" presStyleLbl="revTx" presStyleIdx="3" presStyleCnt="5">
        <dgm:presLayoutVars>
          <dgm:chMax val="1"/>
          <dgm:chPref val="1"/>
        </dgm:presLayoutVars>
      </dgm:prSet>
      <dgm:spPr/>
    </dgm:pt>
    <dgm:pt modelId="{952E9736-4189-47B6-9F6A-F70BD6F5F851}" type="pres">
      <dgm:prSet presAssocID="{8F9EB4D5-1900-4837-8DB7-D601775640DD}" presName="sibTrans" presStyleCnt="0"/>
      <dgm:spPr/>
    </dgm:pt>
    <dgm:pt modelId="{35003DD1-7875-4BC2-A1E5-7411B0869200}" type="pres">
      <dgm:prSet presAssocID="{A6E0CC75-E6FD-4865-A52C-094A76F8294C}" presName="compNode" presStyleCnt="0"/>
      <dgm:spPr/>
    </dgm:pt>
    <dgm:pt modelId="{E13754F0-1EB0-484F-B1B6-B3CC8A6BDFAB}" type="pres">
      <dgm:prSet presAssocID="{A6E0CC75-E6FD-4865-A52C-094A76F8294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D2DF6B9-349E-47AC-AC46-0250F0649E00}" type="pres">
      <dgm:prSet presAssocID="{A6E0CC75-E6FD-4865-A52C-094A76F829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"/>
        </a:ext>
      </dgm:extLst>
    </dgm:pt>
    <dgm:pt modelId="{CE67B075-9D65-48A6-AF44-0396430FBD85}" type="pres">
      <dgm:prSet presAssocID="{A6E0CC75-E6FD-4865-A52C-094A76F8294C}" presName="spaceRect" presStyleCnt="0"/>
      <dgm:spPr/>
    </dgm:pt>
    <dgm:pt modelId="{CEC5FBF9-C753-4534-9FA9-F7FB9ECE23EC}" type="pres">
      <dgm:prSet presAssocID="{A6E0CC75-E6FD-4865-A52C-094A76F829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E2DED04-F867-46AE-98A4-370555AB7F81}" type="presOf" srcId="{8B1D47C6-B027-4B7E-82AE-7E586F055FB1}" destId="{B012780C-834F-480F-956D-F4AE908E27B4}" srcOrd="0" destOrd="0" presId="urn:microsoft.com/office/officeart/2018/5/layout/IconLeafLabelList"/>
    <dgm:cxn modelId="{E90B2014-2C7C-4198-A11A-850168A22F92}" srcId="{8B1D47C6-B027-4B7E-82AE-7E586F055FB1}" destId="{7087A486-21FC-4EEB-B6F7-4B98B72E796B}" srcOrd="3" destOrd="0" parTransId="{4D18B827-7273-4F43-BAF4-FDF5927F9C72}" sibTransId="{8F9EB4D5-1900-4837-8DB7-D601775640DD}"/>
    <dgm:cxn modelId="{5EB7CA6A-0BF8-43B5-AA99-8FB18AE9EB3B}" type="presOf" srcId="{9B0C2F48-B885-4E21-8D7C-AAB3146F469E}" destId="{49C08D87-2A1B-4851-A23A-34E630C5DE91}" srcOrd="0" destOrd="0" presId="urn:microsoft.com/office/officeart/2018/5/layout/IconLeafLabelList"/>
    <dgm:cxn modelId="{32677B6C-7F28-484C-87A3-DE9A01048FC5}" srcId="{8B1D47C6-B027-4B7E-82AE-7E586F055FB1}" destId="{A6E0CC75-E6FD-4865-A52C-094A76F8294C}" srcOrd="4" destOrd="0" parTransId="{B455A007-78FD-490F-942D-B826A2B7E0E2}" sibTransId="{FA72421E-E6BE-4779-A269-2B2038732F19}"/>
    <dgm:cxn modelId="{FC8D2470-5EB5-4A2A-B0CF-03ECDA4863BC}" srcId="{8B1D47C6-B027-4B7E-82AE-7E586F055FB1}" destId="{6770F7AC-31EB-458D-A3A4-65A6E9AAA286}" srcOrd="2" destOrd="0" parTransId="{215856BE-A8FC-4BE6-8AC6-C9E95D7E657C}" sibTransId="{D29A3C0D-A90F-4E93-89F1-D610C8D552C7}"/>
    <dgm:cxn modelId="{74053E55-AFE2-46EE-B238-1C77C410CB50}" type="presOf" srcId="{7087A486-21FC-4EEB-B6F7-4B98B72E796B}" destId="{1BF6317E-93CD-4E83-AFEB-D855BFF8234D}" srcOrd="0" destOrd="0" presId="urn:microsoft.com/office/officeart/2018/5/layout/IconLeafLabelList"/>
    <dgm:cxn modelId="{703BAB9D-7AFE-4858-A440-60F349353305}" type="presOf" srcId="{6770F7AC-31EB-458D-A3A4-65A6E9AAA286}" destId="{C102DCC7-6B42-48BA-A2A2-2EED43AB2E7F}" srcOrd="0" destOrd="0" presId="urn:microsoft.com/office/officeart/2018/5/layout/IconLeafLabelList"/>
    <dgm:cxn modelId="{37425CBC-5D79-4C78-A8A0-0FA5995203F7}" type="presOf" srcId="{15187BD9-F79A-4332-BF52-FEE9CA806F53}" destId="{41B3D4F5-47AA-4ED4-B52A-8E878C83E900}" srcOrd="0" destOrd="0" presId="urn:microsoft.com/office/officeart/2018/5/layout/IconLeafLabelList"/>
    <dgm:cxn modelId="{763AF3DA-F012-4297-AF1C-F8861AF29CAC}" srcId="{8B1D47C6-B027-4B7E-82AE-7E586F055FB1}" destId="{15187BD9-F79A-4332-BF52-FEE9CA806F53}" srcOrd="0" destOrd="0" parTransId="{CC18FAEE-1A1B-4457-BFA7-779484461FE9}" sibTransId="{67851D2D-33CD-4C6F-873D-DB6D861B8DF1}"/>
    <dgm:cxn modelId="{04F0A0EF-8251-4D94-A152-8A5FBB543E00}" type="presOf" srcId="{A6E0CC75-E6FD-4865-A52C-094A76F8294C}" destId="{CEC5FBF9-C753-4534-9FA9-F7FB9ECE23EC}" srcOrd="0" destOrd="0" presId="urn:microsoft.com/office/officeart/2018/5/layout/IconLeafLabelList"/>
    <dgm:cxn modelId="{64C847F7-D790-41C5-A99E-C1820E5D4B18}" srcId="{8B1D47C6-B027-4B7E-82AE-7E586F055FB1}" destId="{9B0C2F48-B885-4E21-8D7C-AAB3146F469E}" srcOrd="1" destOrd="0" parTransId="{6B4F1375-EE73-469C-ADC7-0AA1AD0C7EFD}" sibTransId="{F70BBD62-4141-4865-94B8-1061FA4395A9}"/>
    <dgm:cxn modelId="{F2D19502-45B6-41A1-8D70-5946DCD24B6C}" type="presParOf" srcId="{B012780C-834F-480F-956D-F4AE908E27B4}" destId="{59F20DAB-D8D2-49D2-8393-E012C9FA75D6}" srcOrd="0" destOrd="0" presId="urn:microsoft.com/office/officeart/2018/5/layout/IconLeafLabelList"/>
    <dgm:cxn modelId="{7E761329-4E9A-4D16-B2AD-E6A70B0423F9}" type="presParOf" srcId="{59F20DAB-D8D2-49D2-8393-E012C9FA75D6}" destId="{60D87527-D32B-4038-A782-1EEBC5CA8658}" srcOrd="0" destOrd="0" presId="urn:microsoft.com/office/officeart/2018/5/layout/IconLeafLabelList"/>
    <dgm:cxn modelId="{68231314-A18F-4329-9FBD-60D78182E1CB}" type="presParOf" srcId="{59F20DAB-D8D2-49D2-8393-E012C9FA75D6}" destId="{A1AEBA4E-24EB-43E5-B1EA-4D7274B8C4BB}" srcOrd="1" destOrd="0" presId="urn:microsoft.com/office/officeart/2018/5/layout/IconLeafLabelList"/>
    <dgm:cxn modelId="{00029926-BE7F-40A2-A72D-272B48C81E93}" type="presParOf" srcId="{59F20DAB-D8D2-49D2-8393-E012C9FA75D6}" destId="{4CD8E508-538B-467F-9BBB-499A80AC2371}" srcOrd="2" destOrd="0" presId="urn:microsoft.com/office/officeart/2018/5/layout/IconLeafLabelList"/>
    <dgm:cxn modelId="{D69AB746-395D-4D45-89D6-237A1AF465A0}" type="presParOf" srcId="{59F20DAB-D8D2-49D2-8393-E012C9FA75D6}" destId="{41B3D4F5-47AA-4ED4-B52A-8E878C83E900}" srcOrd="3" destOrd="0" presId="urn:microsoft.com/office/officeart/2018/5/layout/IconLeafLabelList"/>
    <dgm:cxn modelId="{021013E4-0234-498E-B026-862C17D0BE75}" type="presParOf" srcId="{B012780C-834F-480F-956D-F4AE908E27B4}" destId="{1748705A-9A4E-4E41-9C06-C08D4D254235}" srcOrd="1" destOrd="0" presId="urn:microsoft.com/office/officeart/2018/5/layout/IconLeafLabelList"/>
    <dgm:cxn modelId="{7569F4B4-D869-4F8D-A2EB-850ECF3D0F8B}" type="presParOf" srcId="{B012780C-834F-480F-956D-F4AE908E27B4}" destId="{48DAD7DE-D652-4509-8516-B3808F1F4346}" srcOrd="2" destOrd="0" presId="urn:microsoft.com/office/officeart/2018/5/layout/IconLeafLabelList"/>
    <dgm:cxn modelId="{DD27D08D-9E49-4C67-96BA-4F961C19EE03}" type="presParOf" srcId="{48DAD7DE-D652-4509-8516-B3808F1F4346}" destId="{97B54AD8-0F50-4280-A884-7721C36BF206}" srcOrd="0" destOrd="0" presId="urn:microsoft.com/office/officeart/2018/5/layout/IconLeafLabelList"/>
    <dgm:cxn modelId="{5AF98ACF-64FF-4219-82B7-8121848813EB}" type="presParOf" srcId="{48DAD7DE-D652-4509-8516-B3808F1F4346}" destId="{872EDF94-83D7-4C18-B785-AF006DE6B3D4}" srcOrd="1" destOrd="0" presId="urn:microsoft.com/office/officeart/2018/5/layout/IconLeafLabelList"/>
    <dgm:cxn modelId="{FD52C371-B4B6-415F-B462-B8366127ECBF}" type="presParOf" srcId="{48DAD7DE-D652-4509-8516-B3808F1F4346}" destId="{C5F18B40-530A-4352-802F-F280FE6D41AF}" srcOrd="2" destOrd="0" presId="urn:microsoft.com/office/officeart/2018/5/layout/IconLeafLabelList"/>
    <dgm:cxn modelId="{ED56401A-D725-4CDC-B518-D443B949E18F}" type="presParOf" srcId="{48DAD7DE-D652-4509-8516-B3808F1F4346}" destId="{49C08D87-2A1B-4851-A23A-34E630C5DE91}" srcOrd="3" destOrd="0" presId="urn:microsoft.com/office/officeart/2018/5/layout/IconLeafLabelList"/>
    <dgm:cxn modelId="{2010E26D-1EBE-473C-B71A-BB413AEC51DD}" type="presParOf" srcId="{B012780C-834F-480F-956D-F4AE908E27B4}" destId="{8718F55C-9F65-4B79-BB43-A2FB5DBCC7AD}" srcOrd="3" destOrd="0" presId="urn:microsoft.com/office/officeart/2018/5/layout/IconLeafLabelList"/>
    <dgm:cxn modelId="{63F6F6A2-BBE5-4F05-9840-F057C3E5DC04}" type="presParOf" srcId="{B012780C-834F-480F-956D-F4AE908E27B4}" destId="{F6B1E46C-966B-4EB9-91A8-10A8C2DCF9C8}" srcOrd="4" destOrd="0" presId="urn:microsoft.com/office/officeart/2018/5/layout/IconLeafLabelList"/>
    <dgm:cxn modelId="{A32DFB87-848B-41F3-9E07-BE15B0C16781}" type="presParOf" srcId="{F6B1E46C-966B-4EB9-91A8-10A8C2DCF9C8}" destId="{6808D771-90D1-4125-9E58-C4A92BBF1590}" srcOrd="0" destOrd="0" presId="urn:microsoft.com/office/officeart/2018/5/layout/IconLeafLabelList"/>
    <dgm:cxn modelId="{F1964D17-718D-4901-9104-966282171CA5}" type="presParOf" srcId="{F6B1E46C-966B-4EB9-91A8-10A8C2DCF9C8}" destId="{B429B3DB-623F-43B5-909E-A1AA931C99F2}" srcOrd="1" destOrd="0" presId="urn:microsoft.com/office/officeart/2018/5/layout/IconLeafLabelList"/>
    <dgm:cxn modelId="{4ECF0103-40CD-412B-A5ED-6E484F923D3A}" type="presParOf" srcId="{F6B1E46C-966B-4EB9-91A8-10A8C2DCF9C8}" destId="{6D30A677-2735-4F7F-A1C4-9E5243350D85}" srcOrd="2" destOrd="0" presId="urn:microsoft.com/office/officeart/2018/5/layout/IconLeafLabelList"/>
    <dgm:cxn modelId="{2C2251CB-E711-4AFF-AFB8-B1A3DA6B6ED5}" type="presParOf" srcId="{F6B1E46C-966B-4EB9-91A8-10A8C2DCF9C8}" destId="{C102DCC7-6B42-48BA-A2A2-2EED43AB2E7F}" srcOrd="3" destOrd="0" presId="urn:microsoft.com/office/officeart/2018/5/layout/IconLeafLabelList"/>
    <dgm:cxn modelId="{AF38CB4C-8066-4484-810C-1DD4C0C05C6D}" type="presParOf" srcId="{B012780C-834F-480F-956D-F4AE908E27B4}" destId="{21552CE2-3A7B-48F2-8220-53DADD27E4E7}" srcOrd="5" destOrd="0" presId="urn:microsoft.com/office/officeart/2018/5/layout/IconLeafLabelList"/>
    <dgm:cxn modelId="{BB08C0F6-B94E-4664-AB9E-F66EE606B69D}" type="presParOf" srcId="{B012780C-834F-480F-956D-F4AE908E27B4}" destId="{F7BA2AD4-8812-4C96-B24B-9E3A6A3D48D2}" srcOrd="6" destOrd="0" presId="urn:microsoft.com/office/officeart/2018/5/layout/IconLeafLabelList"/>
    <dgm:cxn modelId="{5FADB2B4-03B5-42E3-B553-65C530B5BCE5}" type="presParOf" srcId="{F7BA2AD4-8812-4C96-B24B-9E3A6A3D48D2}" destId="{679ADAEF-CC8B-438D-878D-FA3A45575389}" srcOrd="0" destOrd="0" presId="urn:microsoft.com/office/officeart/2018/5/layout/IconLeafLabelList"/>
    <dgm:cxn modelId="{D51CF6EB-63F4-4DAB-A2F9-6296D06B6819}" type="presParOf" srcId="{F7BA2AD4-8812-4C96-B24B-9E3A6A3D48D2}" destId="{82B73792-8481-46F8-A514-5587BCB89A6A}" srcOrd="1" destOrd="0" presId="urn:microsoft.com/office/officeart/2018/5/layout/IconLeafLabelList"/>
    <dgm:cxn modelId="{CD6EDFE4-EA46-4A8E-8814-4A91011F1DBB}" type="presParOf" srcId="{F7BA2AD4-8812-4C96-B24B-9E3A6A3D48D2}" destId="{4791FBE4-DD61-434B-B848-6049913CD498}" srcOrd="2" destOrd="0" presId="urn:microsoft.com/office/officeart/2018/5/layout/IconLeafLabelList"/>
    <dgm:cxn modelId="{778D4F28-5436-4CFC-8A2B-47F21D3971CD}" type="presParOf" srcId="{F7BA2AD4-8812-4C96-B24B-9E3A6A3D48D2}" destId="{1BF6317E-93CD-4E83-AFEB-D855BFF8234D}" srcOrd="3" destOrd="0" presId="urn:microsoft.com/office/officeart/2018/5/layout/IconLeafLabelList"/>
    <dgm:cxn modelId="{3DAACCC3-9CC0-4664-81E9-FEC6F5B05F36}" type="presParOf" srcId="{B012780C-834F-480F-956D-F4AE908E27B4}" destId="{952E9736-4189-47B6-9F6A-F70BD6F5F851}" srcOrd="7" destOrd="0" presId="urn:microsoft.com/office/officeart/2018/5/layout/IconLeafLabelList"/>
    <dgm:cxn modelId="{C2EFDE67-F0D1-484D-9968-BA7C471E09F4}" type="presParOf" srcId="{B012780C-834F-480F-956D-F4AE908E27B4}" destId="{35003DD1-7875-4BC2-A1E5-7411B0869200}" srcOrd="8" destOrd="0" presId="urn:microsoft.com/office/officeart/2018/5/layout/IconLeafLabelList"/>
    <dgm:cxn modelId="{0BEB2BD7-8DC1-47AD-90F9-124598841425}" type="presParOf" srcId="{35003DD1-7875-4BC2-A1E5-7411B0869200}" destId="{E13754F0-1EB0-484F-B1B6-B3CC8A6BDFAB}" srcOrd="0" destOrd="0" presId="urn:microsoft.com/office/officeart/2018/5/layout/IconLeafLabelList"/>
    <dgm:cxn modelId="{8A404F79-0F6F-4BF4-AD87-AB6C7F08972F}" type="presParOf" srcId="{35003DD1-7875-4BC2-A1E5-7411B0869200}" destId="{7D2DF6B9-349E-47AC-AC46-0250F0649E00}" srcOrd="1" destOrd="0" presId="urn:microsoft.com/office/officeart/2018/5/layout/IconLeafLabelList"/>
    <dgm:cxn modelId="{6B6D3697-EB37-4E17-B3A9-227ECE4A04C9}" type="presParOf" srcId="{35003DD1-7875-4BC2-A1E5-7411B0869200}" destId="{CE67B075-9D65-48A6-AF44-0396430FBD85}" srcOrd="2" destOrd="0" presId="urn:microsoft.com/office/officeart/2018/5/layout/IconLeafLabelList"/>
    <dgm:cxn modelId="{5EEE953B-9A58-4C1F-A991-3498CE179C0A}" type="presParOf" srcId="{35003DD1-7875-4BC2-A1E5-7411B0869200}" destId="{CEC5FBF9-C753-4534-9FA9-F7FB9ECE23E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87527-D32B-4038-A782-1EEBC5CA8658}">
      <dsp:nvSpPr>
        <dsp:cNvPr id="0" name=""/>
        <dsp:cNvSpPr/>
      </dsp:nvSpPr>
      <dsp:spPr>
        <a:xfrm>
          <a:off x="285002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EBA4E-24EB-43E5-B1EA-4D7274B8C4BB}">
      <dsp:nvSpPr>
        <dsp:cNvPr id="0" name=""/>
        <dsp:cNvSpPr/>
      </dsp:nvSpPr>
      <dsp:spPr>
        <a:xfrm>
          <a:off x="471700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3D4F5-47AA-4ED4-B52A-8E878C83E900}">
      <dsp:nvSpPr>
        <dsp:cNvPr id="0" name=""/>
        <dsp:cNvSpPr/>
      </dsp:nvSpPr>
      <dsp:spPr>
        <a:xfrm>
          <a:off x="4956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“Why”: Project Context and Business Goals</a:t>
          </a:r>
        </a:p>
      </dsp:txBody>
      <dsp:txXfrm>
        <a:off x="4956" y="1670753"/>
        <a:ext cx="1436132" cy="574453"/>
      </dsp:txXfrm>
    </dsp:sp>
    <dsp:sp modelId="{97B54AD8-0F50-4280-A884-7721C36BF206}">
      <dsp:nvSpPr>
        <dsp:cNvPr id="0" name=""/>
        <dsp:cNvSpPr/>
      </dsp:nvSpPr>
      <dsp:spPr>
        <a:xfrm>
          <a:off x="1972458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EDF94-83D7-4C18-B785-AF006DE6B3D4}">
      <dsp:nvSpPr>
        <dsp:cNvPr id="0" name=""/>
        <dsp:cNvSpPr/>
      </dsp:nvSpPr>
      <dsp:spPr>
        <a:xfrm>
          <a:off x="2159156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08D87-2A1B-4851-A23A-34E630C5DE91}">
      <dsp:nvSpPr>
        <dsp:cNvPr id="0" name=""/>
        <dsp:cNvSpPr/>
      </dsp:nvSpPr>
      <dsp:spPr>
        <a:xfrm>
          <a:off x="1692413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“How”: My Approach &amp; Data Sources</a:t>
          </a:r>
        </a:p>
      </dsp:txBody>
      <dsp:txXfrm>
        <a:off x="1692413" y="1670753"/>
        <a:ext cx="1436132" cy="574453"/>
      </dsp:txXfrm>
    </dsp:sp>
    <dsp:sp modelId="{6808D771-90D1-4125-9E58-C4A92BBF1590}">
      <dsp:nvSpPr>
        <dsp:cNvPr id="0" name=""/>
        <dsp:cNvSpPr/>
      </dsp:nvSpPr>
      <dsp:spPr>
        <a:xfrm>
          <a:off x="3659914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9B3DB-623F-43B5-909E-A1AA931C99F2}">
      <dsp:nvSpPr>
        <dsp:cNvPr id="0" name=""/>
        <dsp:cNvSpPr/>
      </dsp:nvSpPr>
      <dsp:spPr>
        <a:xfrm>
          <a:off x="3846612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2DCC7-6B42-48BA-A2A2-2EED43AB2E7F}">
      <dsp:nvSpPr>
        <dsp:cNvPr id="0" name=""/>
        <dsp:cNvSpPr/>
      </dsp:nvSpPr>
      <dsp:spPr>
        <a:xfrm>
          <a:off x="3379869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</a:t>
          </a:r>
          <a:r>
            <a:rPr lang="en-US" sz="1100" kern="1200"/>
            <a:t>What”: Keys Findings and Insights</a:t>
          </a:r>
        </a:p>
      </dsp:txBody>
      <dsp:txXfrm>
        <a:off x="3379869" y="1670753"/>
        <a:ext cx="1436132" cy="574453"/>
      </dsp:txXfrm>
    </dsp:sp>
    <dsp:sp modelId="{679ADAEF-CC8B-438D-878D-FA3A45575389}">
      <dsp:nvSpPr>
        <dsp:cNvPr id="0" name=""/>
        <dsp:cNvSpPr/>
      </dsp:nvSpPr>
      <dsp:spPr>
        <a:xfrm>
          <a:off x="5347371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73792-8481-46F8-A514-5587BCB89A6A}">
      <dsp:nvSpPr>
        <dsp:cNvPr id="0" name=""/>
        <dsp:cNvSpPr/>
      </dsp:nvSpPr>
      <dsp:spPr>
        <a:xfrm>
          <a:off x="5534068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6317E-93CD-4E83-AFEB-D855BFF8234D}">
      <dsp:nvSpPr>
        <dsp:cNvPr id="0" name=""/>
        <dsp:cNvSpPr/>
      </dsp:nvSpPr>
      <dsp:spPr>
        <a:xfrm>
          <a:off x="5067325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</a:t>
          </a:r>
          <a:r>
            <a:rPr lang="en-US" sz="1100" kern="1200"/>
            <a:t>Tool”: Dashboard Walkthrough</a:t>
          </a:r>
        </a:p>
      </dsp:txBody>
      <dsp:txXfrm>
        <a:off x="5067325" y="1670753"/>
        <a:ext cx="1436132" cy="574453"/>
      </dsp:txXfrm>
    </dsp:sp>
    <dsp:sp modelId="{E13754F0-1EB0-484F-B1B6-B3CC8A6BDFAB}">
      <dsp:nvSpPr>
        <dsp:cNvPr id="0" name=""/>
        <dsp:cNvSpPr/>
      </dsp:nvSpPr>
      <dsp:spPr>
        <a:xfrm>
          <a:off x="7034827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DF6B9-349E-47AC-AC46-0250F0649E00}">
      <dsp:nvSpPr>
        <dsp:cNvPr id="0" name=""/>
        <dsp:cNvSpPr/>
      </dsp:nvSpPr>
      <dsp:spPr>
        <a:xfrm>
          <a:off x="7221524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5FBF9-C753-4534-9FA9-F7FB9ECE23EC}">
      <dsp:nvSpPr>
        <dsp:cNvPr id="0" name=""/>
        <dsp:cNvSpPr/>
      </dsp:nvSpPr>
      <dsp:spPr>
        <a:xfrm>
          <a:off x="6754781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“Next”: Recommendations, Predictions, &amp; Conclusion</a:t>
          </a:r>
          <a:endParaRPr lang="en-US" sz="1100" kern="1200"/>
        </a:p>
      </dsp:txBody>
      <dsp:txXfrm>
        <a:off x="6754781" y="1670753"/>
        <a:ext cx="1436132" cy="57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78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26E8-7768-A1B8-BFC0-1714607A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E0BBE-7A29-5DDA-4C9C-0532A65F5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4858E-B554-5D62-13DC-3408F9279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34828-6355-AE29-BAC8-F8FC3DAB5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7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5790-B33D-A978-94BB-94215964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3EA91-7116-7E10-C7EB-182B35C68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D3B32-782F-D3E5-7119-D9B1869F5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86EC9-6A9B-8825-5BA9-01F00588B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44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F6439-4251-95ED-DC74-FEDD0442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EDE2-DBB6-42FC-BE36-391E1198EA38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5A593-76BD-63EB-297C-A28283C7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7BBBF-D0EE-5839-6742-C0C2372A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4A2A-89F3-4884-A96C-62B543D289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42322-A040-C235-0759-7809F645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AF6D9C-B55D-1946-D767-554045330943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B7096B-BE97-E090-AB8A-D6E2EE40F39B}"/>
              </a:ext>
            </a:extLst>
          </p:cNvPr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BDDDFD-E938-A57F-47E7-9B1A269AC82B}"/>
              </a:ext>
            </a:extLst>
          </p:cNvPr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4BDBD">
              <a:alpha val="12000"/>
            </a:srgbClr>
          </a:solidFill>
          <a:ln w="12700">
            <a:solidFill>
              <a:srgbClr val="14BDB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6E26B2-8ACD-A25E-77E2-38B94AB870B9}"/>
              </a:ext>
            </a:extLst>
          </p:cNvPr>
          <p:cNvSpPr/>
          <p:nvPr/>
        </p:nvSpPr>
        <p:spPr>
          <a:xfrm>
            <a:off x="41148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– CANDIDATE PRESENTATION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6E0A52-8AE4-823E-B1B2-BC5B480CD7F0}"/>
              </a:ext>
            </a:extLst>
          </p:cNvPr>
          <p:cNvSpPr/>
          <p:nvPr/>
        </p:nvSpPr>
        <p:spPr>
          <a:xfrm>
            <a:off x="411480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Waste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Pollution Analysis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UK Regions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2CEE2EB-5081-1CAD-1A4A-6C328E526F69}"/>
              </a:ext>
            </a:extLst>
          </p:cNvPr>
          <p:cNvSpPr/>
          <p:nvPr/>
        </p:nvSpPr>
        <p:spPr>
          <a:xfrm>
            <a:off x="411480" y="3611880"/>
            <a:ext cx="53035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1002D7-C271-0FBC-6E90-B4EA97C94E55}"/>
              </a:ext>
            </a:extLst>
          </p:cNvPr>
          <p:cNvSpPr/>
          <p:nvPr/>
        </p:nvSpPr>
        <p:spPr>
          <a:xfrm>
            <a:off x="411480" y="36118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Nnadi  |  Data Analyst  |  February 2026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9B5D05-B93D-1CE2-2F9C-4FAAE9132B9C}"/>
              </a:ext>
            </a:extLst>
          </p:cNvPr>
          <p:cNvSpPr/>
          <p:nvPr/>
        </p:nvSpPr>
        <p:spPr>
          <a:xfrm>
            <a:off x="41148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Southern Water – Wastewater Solutions Data Analyst Interview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972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27E3B-6D35-24B9-40E2-86EE8B0231B7}"/>
              </a:ext>
            </a:extLst>
          </p:cNvPr>
          <p:cNvSpPr txBox="1"/>
          <p:nvPr/>
        </p:nvSpPr>
        <p:spPr>
          <a:xfrm>
            <a:off x="1037673" y="261648"/>
            <a:ext cx="7288583" cy="1182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CONTENTS – FROM DATA TO ACTION</a:t>
            </a:r>
          </a:p>
        </p:txBody>
      </p:sp>
      <p:graphicFrame>
        <p:nvGraphicFramePr>
          <p:cNvPr id="115" name="TextBox 112">
            <a:extLst>
              <a:ext uri="{FF2B5EF4-FFF2-40B4-BE49-F238E27FC236}">
                <a16:creationId xmlns:a16="http://schemas.microsoft.com/office/drawing/2014/main" id="{7EDD5385-E8C0-1965-DD45-90ED36F38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157161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579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PROJECT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The People &amp; Why It Mattered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6974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environmental incident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trends over 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 of incidents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concentration by region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44752"/>
            <a:ext cx="2697480" cy="3246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697480" cy="45720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83280" y="1444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Key Stakeholders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Environment Agency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2496312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Companies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971800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83280" y="30358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Operators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3447288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83280" y="35112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Agricultural Sector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922776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383280" y="39867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Local Authorities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444752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172200" y="1444752"/>
            <a:ext cx="2651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regulatory compliance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environmental risk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resources effectively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MY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Analysed the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date formats, flagged unknown locations, checked for duplicates and inconsistencies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47088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93392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93392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523744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52374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84832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records by region, sub-region, date, impact category, and pollutant type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712464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712464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242816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242816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03904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Excel pivot tables to count incidents by region, severity, and pollution medium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85232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431536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431536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961888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961888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22976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land, water, and air impact counts to identify which medium was most affected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04304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150608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150608" y="1371600"/>
            <a:ext cx="1572768" cy="1097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680960" y="1508760"/>
            <a:ext cx="512064" cy="51206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680960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42048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42048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regional breakdowns and pollutant types to tell a clear story from the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709160"/>
            <a:ext cx="850392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Source: UK Environment Agency — National Incident Reporting System (NIRS)   |   Over 36,000 incident records across two datasets   |   🛠  Tool: Microsoft Excel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MY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Produced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measures from the full 36,000+ record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9748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17,053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incidents recorded across all UK regions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974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94,969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Impact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severity score across land, water and air impacts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269748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8076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076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severity score per incident — our baseline measure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3246120"/>
            <a:ext cx="26974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618488" y="3246120"/>
            <a:ext cx="269748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618488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18488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Region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28216" y="423367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with the greatest concentration of high-severity incidents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98848" y="32461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498848" y="3246120"/>
            <a:ext cx="26974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498848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98848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Reduction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08576" y="423367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 score saved by preventing 20% of high-risk incidents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Volumes Are Falling Over Time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 after 2001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peaked at over 1,200 in 2001 then fell dramatically — suggesting early intervention and regulation had a real impact.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long-term decline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trend line shows a consistent downward trajectory over 25 years, indicating improving environmental management across the UK.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uptick worth watching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volumes show a slight rise from 2022 to 2025 — flagging this as an area that warrants closer monitoring going forward.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F795D3-BB78-A3C5-CA32-74F6BD2B7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5" y="1417320"/>
            <a:ext cx="5224725" cy="3365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Months Drive the Most Incidents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peak month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recorded the highest number of incidents at 2,010 — nearly double the quietest month. Summer activity and heat likely increase exposure and reporting.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is the calmest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had the fewest incidents at 909 — suggesting winter conditions reduce certain types of pollution activity.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planning opportunity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June–August peak gives environmental teams advance warning to increase monitoring capacity and field presence during high-risk months.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CE59C5-2338-D99D-7403-F925ADB3D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3" y="1403506"/>
            <a:ext cx="5104159" cy="34963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Is the Highest Risk Region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leads in volume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Southwest accounts for the largest share of incidents — confirming it as the highest risk region and the priority area for intervention.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Anglian region is second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Anglian recorded the second highest volume — both coastal regions, suggesting proximity to water bodies may increase incident risk.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should follow risk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Southwest and Anglian dominating, targeted deployment of monitoring teams and response resources to these regions would have the greatest impact.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9A08CA-6D60-8E37-3161-5C7A10C6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21892"/>
            <a:ext cx="4968444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&amp; Air Pollution Are the Biggest Threats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is a major concern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2,462 incidents, wastewater is the second largest pollutant group — directly relevant to Southern Water's core responsibility of managing sewage and effluent.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and odour incidents significant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2,232 air and odour incidents highlight that pollution impacts go beyond water — affecting the quality of life for nearby communities.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5,738 unclassified incidents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group is 'Other' — suggesting a gap in reporting standards that makes it harder to target the true root causes of pollution.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CA3E3B-01E1-FB8A-C1F0-4F7E3BC41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7" y="1280160"/>
            <a:ext cx="5351079" cy="3713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Bears the Highest Impact Across All Pollutant Types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the most impacted medium overall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pollutant types, water has the highest average impact score of 2.35 — compared to land at 1.64 and air at 1.57. Water consistently bears the greatest environmental burden.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pollution hits water hardest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sources score 3.08 for water impact — the single highest score in the entire dataset. Farm run-off is the most critical threat to water quality.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and unknown sources also critical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scores 3.01 and unknown sources 3.03 for water impact — highlighting both a treatment gap and a reporting gap that need urgent attention.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A8DC26-B187-A3B2-60A9-FB408B2AA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" y="1457546"/>
            <a:ext cx="5367551" cy="3540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EC2-65D6-A2C3-5FD5-40D73264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D1F1E-FFB9-A20C-8C00-C7F2CD56A85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694E6B-FFE8-3276-6BC4-C95E12F51308}"/>
              </a:ext>
            </a:extLst>
          </p:cNvPr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AB7B5E-1293-7281-B0C2-59B6AFDB6A43}"/>
              </a:ext>
            </a:extLst>
          </p:cNvPr>
          <p:cNvSpPr/>
          <p:nvPr/>
        </p:nvSpPr>
        <p:spPr>
          <a:xfrm>
            <a:off x="176431" y="543560"/>
            <a:ext cx="327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A337D7-B576-9ABF-A93C-330AC6BE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31" y="953477"/>
            <a:ext cx="8791138" cy="413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4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&amp;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Deterioration Near Waste Sites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a high concentration of landfill and industrial waste sites consistently showed lower water quality index scores, suggesting a direct link between waste proximity and contamination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7316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Activity as a Key Driver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higher industrial activity recorded significantly elevated pollutant concentrations. This pattern held across multiple pollutant types, pointing to industrial operations as a primary risk factor.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9768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Disparities Are Significant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highest and lowest-risk regions was considerable — suggesting that targeted, region-specific interventions would be far more effective than blanket national policies.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6052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73168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32735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Validated the Findings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767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results across multiple data sources, checked for data entry errors, and tested whether patterns remained consistent across different time periods to ensure reliability.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RECOMMENDATIONS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Recommended &amp; Why It Mattered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029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Prioritise monitoring and intervention in the North West and Yorkshire — the highest-risk regions identified in the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32888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Investigate the link between industrial sites and nearby water sources more deeply, as proximity appeared to be a strong predictor of contamination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Implement a regular data refresh cycle so that pollution trends can be tracked over time rather than as a single snapshot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941064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40325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Share findings with local environmental regulators to support compliance planning and enforcement prioritisation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1417320"/>
            <a:ext cx="3246120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150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This 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provided stakeholders with a clear regional risk picture for the first time, enabling evidence-based prioritisation of resources and monitoring efforts.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154680"/>
            <a:ext cx="3246120" cy="1737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7150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refresh with live feeds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geospatial mapping for visual risk zones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for non-technical users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THE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Experience Is Relevant to Southern Water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pollution levels across UK regions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0" y="148132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46320" y="1481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monitors wastewater quality and environmental impact across its network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complex, multi-source environmental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combines data from treatment plants, sensors, and compliance reports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data into clear insights for non-technical stakeholders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31821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318211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31821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teams need clear reporting to support operational and regulatory decisions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32504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403250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areas and recommending targeted 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40325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09160" y="403250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46320" y="40325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prioritises interventions based on risk, compliance, and environmental impact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1298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Experience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298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Need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24" y="0"/>
            <a:ext cx="8935407" cy="514350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-457200" y="3474720"/>
            <a:ext cx="3200400" cy="32004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14BDBD">
              <a:alpha val="12000"/>
            </a:srgbClr>
          </a:solidFill>
          <a:ln w="12700">
            <a:solidFill>
              <a:srgbClr val="14BDB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2926080" y="1664208"/>
            <a:ext cx="32918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48640" y="181051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excited to bring my environmental data experience</a:t>
            </a:r>
            <a:endParaRPr lang="en-US" sz="13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Wastewater Solutions team at Southern Water.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9436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9436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17,053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0604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60604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60604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60604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61772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1772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61772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2940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62940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62940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62940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Nnadi  |  Data Analyst Candidate  |  Southern Water Interview  |  23 February 2026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1322</Words>
  <Application>Microsoft Office PowerPoint</Application>
  <PresentationFormat>On-screen Show (16:9)</PresentationFormat>
  <Paragraphs>203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Waste &amp; Pollution Data Analysis – Chioma Nnadi</dc:title>
  <dc:subject>PptxGenJS Presentation</dc:subject>
  <dc:creator>Chioma Nnadi</dc:creator>
  <cp:lastModifiedBy>Chioma Nnadi</cp:lastModifiedBy>
  <cp:revision>5</cp:revision>
  <dcterms:created xsi:type="dcterms:W3CDTF">2026-02-21T11:26:31Z</dcterms:created>
  <dcterms:modified xsi:type="dcterms:W3CDTF">2026-02-24T03:12:10Z</dcterms:modified>
</cp:coreProperties>
</file>